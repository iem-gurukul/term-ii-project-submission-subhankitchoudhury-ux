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ode" panose="020B0604020202020204" charset="0"/>
      <p:regular r:id="rId8"/>
    </p:embeddedFont>
    <p:embeddedFont>
      <p:font typeface="Code Bold" panose="020B0604020202020204" charset="0"/>
      <p:regular r:id="rId9"/>
    </p:embeddedFont>
    <p:embeddedFont>
      <p:font typeface="Codec Pro" panose="020B0604020202020204" charset="0"/>
      <p:regular r:id="rId10"/>
    </p:embeddedFont>
    <p:embeddedFont>
      <p:font typeface="Fira Code Bold" panose="020B0604020202020204" charset="0"/>
      <p:regular r:id="rId11"/>
    </p:embeddedFont>
    <p:embeddedFont>
      <p:font typeface="Open Sauce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6793741" y="3623929"/>
            <a:ext cx="11494259" cy="2591938"/>
            <a:chOff x="0" y="0"/>
            <a:chExt cx="3027295" cy="6826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27294" cy="682650"/>
            </a:xfrm>
            <a:custGeom>
              <a:avLst/>
              <a:gdLst/>
              <a:ahLst/>
              <a:cxnLst/>
              <a:rect l="l" t="t" r="r" b="b"/>
              <a:pathLst>
                <a:path w="3027294" h="682650">
                  <a:moveTo>
                    <a:pt x="0" y="0"/>
                  </a:moveTo>
                  <a:lnTo>
                    <a:pt x="3027294" y="0"/>
                  </a:lnTo>
                  <a:lnTo>
                    <a:pt x="3027294" y="682650"/>
                  </a:lnTo>
                  <a:lnTo>
                    <a:pt x="0" y="682650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027295" cy="71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020491" y="3581722"/>
            <a:ext cx="10238809" cy="257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4"/>
              </a:lnSpc>
            </a:pPr>
            <a:r>
              <a:rPr lang="en-US" sz="3689" b="1">
                <a:solidFill>
                  <a:srgbClr val="38B6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NAME-SUBHANKIT CHOUDHURY</a:t>
            </a:r>
          </a:p>
          <a:p>
            <a:pPr algn="ctr">
              <a:lnSpc>
                <a:spcPts val="5164"/>
              </a:lnSpc>
            </a:pPr>
            <a:r>
              <a:rPr lang="en-US" sz="3689" b="1">
                <a:solidFill>
                  <a:srgbClr val="38B6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STREAM-CSE(IOTCSBT)</a:t>
            </a:r>
          </a:p>
          <a:p>
            <a:pPr algn="ctr">
              <a:lnSpc>
                <a:spcPts val="5164"/>
              </a:lnSpc>
            </a:pPr>
            <a:r>
              <a:rPr lang="en-US" sz="3689" b="1">
                <a:solidFill>
                  <a:srgbClr val="38B6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ROLL-34</a:t>
            </a:r>
          </a:p>
          <a:p>
            <a:pPr marL="0" lvl="0" indent="0" algn="ctr">
              <a:lnSpc>
                <a:spcPts val="5164"/>
              </a:lnSpc>
              <a:spcBef>
                <a:spcPct val="0"/>
              </a:spcBef>
            </a:pPr>
            <a:r>
              <a:rPr lang="en-US" sz="3689" b="1">
                <a:solidFill>
                  <a:srgbClr val="38B6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YEAR-2ND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311305" y="2427145"/>
            <a:ext cx="7211261" cy="90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39"/>
              </a:lnSpc>
              <a:spcBef>
                <a:spcPct val="0"/>
              </a:spcBef>
            </a:pPr>
            <a:r>
              <a:rPr lang="en-US" sz="5242" b="1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problem statement: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604943" y="248606"/>
            <a:ext cx="19892943" cy="996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72"/>
              </a:lnSpc>
              <a:spcBef>
                <a:spcPct val="0"/>
              </a:spcBef>
            </a:pPr>
            <a:r>
              <a:rPr lang="en-US" sz="5409">
                <a:solidFill>
                  <a:srgbClr val="B1B3AF"/>
                </a:solidFill>
                <a:latin typeface="Codec Pro"/>
                <a:ea typeface="Codec Pro"/>
                <a:cs typeface="Codec Pro"/>
                <a:sym typeface="Codec Pro"/>
              </a:rPr>
              <a:t>MINI BANKING SYSYEM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9279" y="3549596"/>
            <a:ext cx="14615924" cy="171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0"/>
              </a:lnSpc>
            </a:pPr>
            <a:r>
              <a:rPr lang="en-US" sz="3693" b="1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A mini banking system for users to manage accounts, perform transactions, and view statements securely.</a:t>
            </a:r>
          </a:p>
          <a:p>
            <a:pPr marL="0" lvl="0" indent="0" algn="ctr">
              <a:lnSpc>
                <a:spcPts val="3308"/>
              </a:lnSpc>
              <a:spcBef>
                <a:spcPct val="0"/>
              </a:spcBef>
            </a:pPr>
            <a:endParaRPr lang="en-US" sz="3693" b="1">
              <a:solidFill>
                <a:srgbClr val="B1B3AF"/>
              </a:solidFill>
              <a:latin typeface="Code Bold"/>
              <a:ea typeface="Code Bold"/>
              <a:cs typeface="Code Bold"/>
              <a:sym typeface="Cod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2231064" y="5705216"/>
            <a:ext cx="9131020" cy="906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TARGET USER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83438" y="6544689"/>
            <a:ext cx="16849933" cy="210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6"/>
              </a:lnSpc>
            </a:pPr>
            <a:r>
              <a:rPr lang="en-US" sz="3118" b="1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Students learning Java, OOP, and layered architecture</a:t>
            </a:r>
          </a:p>
          <a:p>
            <a:pPr algn="ctr">
              <a:lnSpc>
                <a:spcPts val="4366"/>
              </a:lnSpc>
            </a:pPr>
            <a:r>
              <a:rPr lang="en-US" sz="3118" b="1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Beginners practicing real-world software development concepts</a:t>
            </a:r>
          </a:p>
          <a:p>
            <a:pPr marL="0" lvl="0" indent="0" algn="ctr">
              <a:lnSpc>
                <a:spcPts val="4000"/>
              </a:lnSpc>
              <a:spcBef>
                <a:spcPct val="0"/>
              </a:spcBef>
            </a:pPr>
            <a:r>
              <a:rPr lang="en-US" sz="2857" b="1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Educators and instructors for demonstrati</a:t>
            </a:r>
            <a:r>
              <a:rPr lang="en-US" sz="2857" b="1" u="none" strike="noStrike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on and teaching purposes</a:t>
            </a:r>
          </a:p>
          <a:p>
            <a:pPr algn="ctr">
              <a:lnSpc>
                <a:spcPts val="4000"/>
              </a:lnSpc>
              <a:spcBef>
                <a:spcPct val="0"/>
              </a:spcBef>
            </a:pPr>
            <a:r>
              <a:rPr lang="en-US" sz="2857" b="1" u="none" strike="noStrike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Small-scale users needing a basic banking simulation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46475" y="5025390"/>
            <a:ext cx="395049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Code"/>
                <a:ea typeface="Code"/>
                <a:cs typeface="Code"/>
                <a:sym typeface="Code"/>
              </a:rPr>
              <a:t>Code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46475" y="5025390"/>
            <a:ext cx="395049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000000"/>
                </a:solidFill>
                <a:latin typeface="Code"/>
                <a:ea typeface="Code"/>
                <a:cs typeface="Code"/>
                <a:sym typeface="Code"/>
              </a:rPr>
              <a:t>Code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458854"/>
            <a:ext cx="17623132" cy="244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lang="en-US" sz="3573" b="1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    High-Level Architecture :</a:t>
            </a:r>
          </a:p>
          <a:p>
            <a:pPr algn="ctr">
              <a:lnSpc>
                <a:spcPts val="4862"/>
              </a:lnSpc>
              <a:spcBef>
                <a:spcPct val="0"/>
              </a:spcBef>
            </a:pPr>
            <a:r>
              <a:rPr lang="en-US" sz="3473" b="1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            Layered Architecture: Presentation → Services → Repository → M</a:t>
            </a:r>
            <a:r>
              <a:rPr lang="en-US" sz="3473" b="1" u="none" strike="noStrike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odel → Util</a:t>
            </a:r>
          </a:p>
          <a:p>
            <a:pPr marL="0" lvl="0" indent="0" algn="ctr">
              <a:lnSpc>
                <a:spcPts val="4862"/>
              </a:lnSpc>
              <a:spcBef>
                <a:spcPct val="0"/>
              </a:spcBef>
            </a:pPr>
            <a:endParaRPr lang="en-US" sz="3473" b="1" u="none" strike="noStrike">
              <a:solidFill>
                <a:srgbClr val="B1B3AF"/>
              </a:solidFill>
              <a:latin typeface="Code Bold"/>
              <a:ea typeface="Code Bold"/>
              <a:cs typeface="Code Bold"/>
              <a:sym typeface="Cod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580303" y="2613344"/>
            <a:ext cx="19986123" cy="4356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8"/>
              </a:lnSpc>
              <a:spcBef>
                <a:spcPct val="0"/>
              </a:spcBef>
            </a:pPr>
            <a:r>
              <a:rPr lang="en-US" sz="4113" b="1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Key </a:t>
            </a:r>
            <a:r>
              <a:rPr lang="en-US" sz="4113" b="1" u="none" strike="noStrike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Classes &amp; Responsibilities:</a:t>
            </a:r>
          </a:p>
          <a:p>
            <a:pPr algn="ctr">
              <a:lnSpc>
                <a:spcPts val="4879"/>
              </a:lnSpc>
              <a:spcBef>
                <a:spcPct val="0"/>
              </a:spcBef>
            </a:pPr>
            <a:r>
              <a:rPr lang="en-US" sz="3485" b="1" u="none" strike="noStrike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Main – Handles user interface</a:t>
            </a:r>
          </a:p>
          <a:p>
            <a:pPr marL="0" lvl="0" indent="0" algn="ctr">
              <a:lnSpc>
                <a:spcPts val="4879"/>
              </a:lnSpc>
              <a:spcBef>
                <a:spcPct val="0"/>
              </a:spcBef>
            </a:pPr>
            <a:r>
              <a:rPr lang="en-US" sz="3485" b="1" u="none" strike="noStrike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BankingService – Orchestrates banking operation</a:t>
            </a:r>
          </a:p>
          <a:p>
            <a:pPr algn="ctr">
              <a:lnSpc>
                <a:spcPts val="4879"/>
              </a:lnSpc>
              <a:spcBef>
                <a:spcPct val="0"/>
              </a:spcBef>
            </a:pPr>
            <a:r>
              <a:rPr lang="en-US" sz="3485" b="1" u="none" strike="noStrike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AccountService, TransactionService, AuthService – Business logic</a:t>
            </a:r>
          </a:p>
          <a:p>
            <a:pPr marL="0" lvl="0" indent="0" algn="ctr">
              <a:lnSpc>
                <a:spcPts val="4879"/>
              </a:lnSpc>
              <a:spcBef>
                <a:spcPct val="0"/>
              </a:spcBef>
            </a:pPr>
            <a:r>
              <a:rPr lang="en-US" sz="3485" b="1" u="none" strike="noStrike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UserRepository, AccountRepository, TransactionRepository – Data storage</a:t>
            </a:r>
          </a:p>
          <a:p>
            <a:pPr algn="ctr">
              <a:lnSpc>
                <a:spcPts val="4879"/>
              </a:lnSpc>
              <a:spcBef>
                <a:spcPct val="0"/>
              </a:spcBef>
            </a:pPr>
            <a:r>
              <a:rPr lang="en-US" sz="3485" b="1" u="none" strike="noStrike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User, Account, Transaction – Core data models</a:t>
            </a:r>
          </a:p>
          <a:p>
            <a:pPr marL="0" lvl="0" indent="0" algn="ctr">
              <a:lnSpc>
                <a:spcPts val="4319"/>
              </a:lnSpc>
              <a:spcBef>
                <a:spcPct val="0"/>
              </a:spcBef>
            </a:pPr>
            <a:endParaRPr lang="en-US" sz="3485" b="1" u="none" strike="noStrike">
              <a:solidFill>
                <a:srgbClr val="B1B3AF"/>
              </a:solidFill>
              <a:latin typeface="Code Bold"/>
              <a:ea typeface="Code Bold"/>
              <a:cs typeface="Code Bold"/>
              <a:sym typeface="Cod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1107199" y="7331175"/>
            <a:ext cx="18523109" cy="222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01034" lvl="2" indent="-600345" algn="ctr">
              <a:lnSpc>
                <a:spcPts val="5839"/>
              </a:lnSpc>
              <a:buFont typeface="Arial"/>
              <a:buChar char="⚬"/>
            </a:pPr>
            <a:r>
              <a:rPr lang="en-US" sz="4170" b="1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Package Structure:                                                        model, repository, services, exception, util</a:t>
            </a:r>
          </a:p>
          <a:p>
            <a:pPr marL="0" lvl="0" indent="0" algn="ctr">
              <a:lnSpc>
                <a:spcPts val="6124"/>
              </a:lnSpc>
              <a:spcBef>
                <a:spcPct val="0"/>
              </a:spcBef>
            </a:pPr>
            <a:endParaRPr lang="en-US" sz="4170" b="1">
              <a:solidFill>
                <a:srgbClr val="B1B3AF"/>
              </a:solidFill>
              <a:latin typeface="Code Bold"/>
              <a:ea typeface="Code Bold"/>
              <a:cs typeface="Code Bold"/>
              <a:sym typeface="Code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1949386"/>
            <a:ext cx="18288000" cy="5642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7"/>
              </a:lnSpc>
            </a:pPr>
            <a:r>
              <a:rPr lang="en-US" sz="5647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Title: Object Oriented Concepts</a:t>
            </a:r>
          </a:p>
          <a:p>
            <a:pPr algn="ctr">
              <a:lnSpc>
                <a:spcPts val="7907"/>
              </a:lnSpc>
            </a:pPr>
            <a:endParaRPr lang="en-US" sz="5647" b="1" dirty="0">
              <a:solidFill>
                <a:srgbClr val="B1B3AF"/>
              </a:solidFill>
              <a:latin typeface="Code Bold"/>
              <a:ea typeface="Code Bold"/>
              <a:cs typeface="Code Bold"/>
              <a:sym typeface="Code Bold"/>
            </a:endParaRPr>
          </a:p>
          <a:p>
            <a:pPr algn="ctr">
              <a:lnSpc>
                <a:spcPts val="4770"/>
              </a:lnSpc>
            </a:pPr>
            <a:r>
              <a:rPr lang="en-US" sz="3407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Abstraction: Service classes hide repository and internal logic from Main.</a:t>
            </a:r>
          </a:p>
          <a:p>
            <a:pPr algn="ctr">
              <a:lnSpc>
                <a:spcPts val="4770"/>
              </a:lnSpc>
            </a:pPr>
            <a:r>
              <a:rPr lang="en-US" sz="3407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Encapsulation: Private fields in User, Account, Transaction with getters setters.</a:t>
            </a:r>
          </a:p>
          <a:p>
            <a:pPr algn="ctr">
              <a:lnSpc>
                <a:spcPts val="4770"/>
              </a:lnSpc>
            </a:pPr>
            <a:r>
              <a:rPr lang="en-US" sz="3407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Inheritance: Exception classes extend Exception.</a:t>
            </a:r>
          </a:p>
          <a:p>
            <a:pPr algn="ctr">
              <a:lnSpc>
                <a:spcPts val="4770"/>
              </a:lnSpc>
            </a:pPr>
            <a:r>
              <a:rPr lang="en-US" sz="3407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Polymorphism: Method overloading for deposit and withdraw in Account Service.</a:t>
            </a:r>
          </a:p>
          <a:p>
            <a:pPr algn="ctr">
              <a:lnSpc>
                <a:spcPts val="4770"/>
              </a:lnSpc>
            </a:pPr>
            <a:r>
              <a:rPr lang="en-US" sz="3407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Design Pattern: Layered architecture pattern to separate concerns.</a:t>
            </a:r>
          </a:p>
          <a:p>
            <a:pPr marL="0" lvl="0" indent="0" algn="ctr">
              <a:lnSpc>
                <a:spcPts val="4770"/>
              </a:lnSpc>
              <a:spcBef>
                <a:spcPct val="0"/>
              </a:spcBef>
            </a:pPr>
            <a:endParaRPr lang="en-US" sz="3407" b="1" dirty="0">
              <a:solidFill>
                <a:srgbClr val="B1B3AF"/>
              </a:solidFill>
              <a:latin typeface="Code Bold"/>
              <a:ea typeface="Code Bold"/>
              <a:cs typeface="Code Bold"/>
              <a:sym typeface="Code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1602654"/>
            <a:ext cx="17911406" cy="773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389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Title: Technical Highlights</a:t>
            </a:r>
          </a:p>
          <a:p>
            <a:pPr algn="ctr">
              <a:lnSpc>
                <a:spcPts val="5165"/>
              </a:lnSpc>
            </a:pPr>
            <a:r>
              <a:rPr lang="en-US" sz="3689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Key Logic Decisions: Unique account Number generated automatically using Id Generator.</a:t>
            </a:r>
          </a:p>
          <a:p>
            <a:pPr algn="ctr">
              <a:lnSpc>
                <a:spcPts val="5165"/>
              </a:lnSpc>
            </a:pPr>
            <a:r>
              <a:rPr lang="en-US" sz="3689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User authentication via username or account Number  + password.</a:t>
            </a:r>
          </a:p>
          <a:p>
            <a:pPr algn="ctr">
              <a:lnSpc>
                <a:spcPts val="5165"/>
              </a:lnSpc>
            </a:pPr>
            <a:r>
              <a:rPr lang="en-US" sz="3689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Transactions recorded in Transaction Repository for statements.</a:t>
            </a:r>
          </a:p>
          <a:p>
            <a:pPr algn="ctr">
              <a:lnSpc>
                <a:spcPts val="5165"/>
              </a:lnSpc>
            </a:pPr>
            <a:r>
              <a:rPr lang="en-US" sz="3689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Input validation in Input Validator ensures safe user input.</a:t>
            </a:r>
          </a:p>
          <a:p>
            <a:pPr algn="ctr">
              <a:lnSpc>
                <a:spcPts val="5165"/>
              </a:lnSpc>
            </a:pPr>
            <a:endParaRPr lang="en-US" sz="3689" b="1" dirty="0">
              <a:solidFill>
                <a:srgbClr val="B1B3AF"/>
              </a:solidFill>
              <a:latin typeface="Code Bold"/>
              <a:ea typeface="Code Bold"/>
              <a:cs typeface="Code Bold"/>
              <a:sym typeface="Code Bold"/>
            </a:endParaRPr>
          </a:p>
          <a:p>
            <a:pPr algn="ctr">
              <a:lnSpc>
                <a:spcPts val="2785"/>
              </a:lnSpc>
            </a:pPr>
            <a:endParaRPr lang="en-US" sz="3689" b="1" dirty="0">
              <a:solidFill>
                <a:srgbClr val="B1B3AF"/>
              </a:solidFill>
              <a:latin typeface="Code Bold"/>
              <a:ea typeface="Code Bold"/>
              <a:cs typeface="Code Bold"/>
              <a:sym typeface="Code Bold"/>
            </a:endParaRPr>
          </a:p>
          <a:p>
            <a:pPr algn="ctr">
              <a:lnSpc>
                <a:spcPts val="5865"/>
              </a:lnSpc>
            </a:pPr>
            <a:r>
              <a:rPr lang="en-US" sz="4189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Why Chosen :</a:t>
            </a:r>
          </a:p>
          <a:p>
            <a:pPr algn="ctr">
              <a:lnSpc>
                <a:spcPts val="5165"/>
              </a:lnSpc>
            </a:pPr>
            <a:r>
              <a:rPr lang="en-US" sz="3689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 layered design improves modularity and maintainability</a:t>
            </a:r>
          </a:p>
          <a:p>
            <a:pPr algn="ctr">
              <a:lnSpc>
                <a:spcPts val="4745"/>
              </a:lnSpc>
            </a:pPr>
            <a:r>
              <a:rPr lang="en-US" sz="3389" b="1" dirty="0">
                <a:solidFill>
                  <a:srgbClr val="B1B3AF"/>
                </a:solidFill>
                <a:latin typeface="Code Bold"/>
                <a:ea typeface="Code Bold"/>
                <a:cs typeface="Code Bold"/>
                <a:sym typeface="Code Bold"/>
              </a:rPr>
              <a:t>Exception handling ensures robust error management</a:t>
            </a:r>
          </a:p>
          <a:p>
            <a:pPr marL="0" lvl="0" indent="0" algn="ctr">
              <a:lnSpc>
                <a:spcPts val="4745"/>
              </a:lnSpc>
              <a:spcBef>
                <a:spcPct val="0"/>
              </a:spcBef>
            </a:pPr>
            <a:endParaRPr lang="en-US" sz="3389" b="1" dirty="0">
              <a:solidFill>
                <a:srgbClr val="B1B3AF"/>
              </a:solidFill>
              <a:latin typeface="Code Bold"/>
              <a:ea typeface="Code Bold"/>
              <a:cs typeface="Code Bold"/>
              <a:sym typeface="Code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38225"/>
            <a:ext cx="16999107" cy="828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9"/>
              </a:lnSpc>
              <a:spcBef>
                <a:spcPct val="0"/>
              </a:spcBef>
            </a:pPr>
            <a:r>
              <a:rPr lang="en-US" sz="5166" spc="-103">
                <a:solidFill>
                  <a:srgbClr val="B1B3AF"/>
                </a:solidFill>
                <a:latin typeface="Open Sauce"/>
                <a:ea typeface="Open Sauce"/>
                <a:cs typeface="Open Sauce"/>
                <a:sym typeface="Open Sauce"/>
              </a:rPr>
              <a:t>Title: Live Demonstration</a:t>
            </a:r>
          </a:p>
          <a:p>
            <a:pPr algn="ctr">
              <a:lnSpc>
                <a:spcPts val="6199"/>
              </a:lnSpc>
              <a:spcBef>
                <a:spcPct val="0"/>
              </a:spcBef>
            </a:pPr>
            <a:r>
              <a:rPr lang="en-US" sz="5166" spc="-103">
                <a:solidFill>
                  <a:srgbClr val="B1B3AF"/>
                </a:solidFill>
                <a:latin typeface="Open Sauce"/>
                <a:ea typeface="Open Sauce"/>
                <a:cs typeface="Open Sauce"/>
                <a:sym typeface="Open Sauce"/>
              </a:rPr>
              <a:t>Scenario:</a:t>
            </a:r>
          </a:p>
          <a:p>
            <a:pPr algn="ctr">
              <a:lnSpc>
                <a:spcPts val="4822"/>
              </a:lnSpc>
              <a:spcBef>
                <a:spcPct val="0"/>
              </a:spcBef>
            </a:pPr>
            <a:r>
              <a:rPr lang="en-US" sz="4018" spc="-80">
                <a:solidFill>
                  <a:srgbClr val="B1B3AF"/>
                </a:solidFill>
                <a:latin typeface="Open Sauce"/>
                <a:ea typeface="Open Sauce"/>
                <a:cs typeface="Open Sauce"/>
                <a:sym typeface="Open Sauce"/>
              </a:rPr>
              <a:t>New user registration and account creation</a:t>
            </a:r>
          </a:p>
          <a:p>
            <a:pPr algn="ctr">
              <a:lnSpc>
                <a:spcPts val="4822"/>
              </a:lnSpc>
              <a:spcBef>
                <a:spcPct val="0"/>
              </a:spcBef>
            </a:pPr>
            <a:r>
              <a:rPr lang="en-US" sz="4018" spc="-80">
                <a:solidFill>
                  <a:srgbClr val="B1B3AF"/>
                </a:solidFill>
                <a:latin typeface="Open Sauce"/>
                <a:ea typeface="Open Sauce"/>
                <a:cs typeface="Open Sauce"/>
                <a:sym typeface="Open Sauce"/>
              </a:rPr>
              <a:t>Deposit and withdrawal in an account</a:t>
            </a:r>
          </a:p>
          <a:p>
            <a:pPr algn="ctr">
              <a:lnSpc>
                <a:spcPts val="4822"/>
              </a:lnSpc>
              <a:spcBef>
                <a:spcPct val="0"/>
              </a:spcBef>
            </a:pPr>
            <a:r>
              <a:rPr lang="en-US" sz="4018" spc="-80">
                <a:solidFill>
                  <a:srgbClr val="B1B3AF"/>
                </a:solidFill>
                <a:latin typeface="Open Sauce"/>
                <a:ea typeface="Open Sauce"/>
                <a:cs typeface="Open Sauce"/>
                <a:sym typeface="Open Sauce"/>
              </a:rPr>
              <a:t>Viewing account statement</a:t>
            </a:r>
          </a:p>
          <a:p>
            <a:pPr algn="ctr">
              <a:lnSpc>
                <a:spcPts val="4822"/>
              </a:lnSpc>
              <a:spcBef>
                <a:spcPct val="0"/>
              </a:spcBef>
            </a:pPr>
            <a:r>
              <a:rPr lang="en-US" sz="4018" spc="-80">
                <a:solidFill>
                  <a:srgbClr val="B1B3AF"/>
                </a:solidFill>
                <a:latin typeface="Open Sauce"/>
                <a:ea typeface="Open Sauce"/>
                <a:cs typeface="Open Sauce"/>
                <a:sym typeface="Open Sauce"/>
              </a:rPr>
              <a:t>Creating additional accounts for the same user</a:t>
            </a:r>
          </a:p>
          <a:p>
            <a:pPr algn="ctr">
              <a:lnSpc>
                <a:spcPts val="5949"/>
              </a:lnSpc>
              <a:spcBef>
                <a:spcPct val="0"/>
              </a:spcBef>
            </a:pPr>
            <a:endParaRPr lang="en-US" sz="4018" spc="-80">
              <a:solidFill>
                <a:srgbClr val="B1B3A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6199"/>
              </a:lnSpc>
              <a:spcBef>
                <a:spcPct val="0"/>
              </a:spcBef>
            </a:pPr>
            <a:r>
              <a:rPr lang="en-US" sz="5166" spc="-103">
                <a:solidFill>
                  <a:srgbClr val="B1B3AF"/>
                </a:solidFill>
                <a:latin typeface="Open Sauce"/>
                <a:ea typeface="Open Sauce"/>
                <a:cs typeface="Open Sauce"/>
                <a:sym typeface="Open Sauce"/>
              </a:rPr>
              <a:t>Error handling:</a:t>
            </a:r>
          </a:p>
          <a:p>
            <a:pPr algn="ctr">
              <a:lnSpc>
                <a:spcPts val="5072"/>
              </a:lnSpc>
              <a:spcBef>
                <a:spcPct val="0"/>
              </a:spcBef>
            </a:pPr>
            <a:r>
              <a:rPr lang="en-US" sz="4227" spc="-84">
                <a:solidFill>
                  <a:srgbClr val="B1B3AF"/>
                </a:solidFill>
                <a:latin typeface="Open Sauce"/>
                <a:ea typeface="Open Sauce"/>
                <a:cs typeface="Open Sauce"/>
                <a:sym typeface="Open Sauce"/>
              </a:rPr>
              <a:t> invalid deposit/withdrawal or incorrect login</a:t>
            </a:r>
          </a:p>
          <a:p>
            <a:pPr algn="ctr">
              <a:lnSpc>
                <a:spcPts val="5072"/>
              </a:lnSpc>
              <a:spcBef>
                <a:spcPct val="0"/>
              </a:spcBef>
            </a:pPr>
            <a:endParaRPr lang="en-US" sz="4227" spc="-84">
              <a:solidFill>
                <a:srgbClr val="B1B3A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6199"/>
              </a:lnSpc>
              <a:spcBef>
                <a:spcPct val="0"/>
              </a:spcBef>
            </a:pPr>
            <a:r>
              <a:rPr lang="en-US" sz="5166" spc="-103">
                <a:solidFill>
                  <a:srgbClr val="B1B3AF"/>
                </a:solidFill>
                <a:latin typeface="Open Sauce"/>
                <a:ea typeface="Open Sauce"/>
                <a:cs typeface="Open Sauce"/>
                <a:sym typeface="Open Sauce"/>
              </a:rPr>
              <a:t>Goal:</a:t>
            </a:r>
          </a:p>
          <a:p>
            <a:pPr algn="ctr">
              <a:lnSpc>
                <a:spcPts val="5573"/>
              </a:lnSpc>
              <a:spcBef>
                <a:spcPct val="0"/>
              </a:spcBef>
            </a:pPr>
            <a:r>
              <a:rPr lang="en-US" sz="4644" spc="-92">
                <a:solidFill>
                  <a:srgbClr val="B1B3AF"/>
                </a:solidFill>
                <a:latin typeface="Open Sauce"/>
                <a:ea typeface="Open Sauce"/>
                <a:cs typeface="Open Sauce"/>
                <a:sym typeface="Open Sauce"/>
              </a:rPr>
              <a:t> Show working system with real user interaction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307</Words>
  <Application>Microsoft Office PowerPoint</Application>
  <PresentationFormat>Custom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Fira Code Bold</vt:lpstr>
      <vt:lpstr>Code</vt:lpstr>
      <vt:lpstr>Open Sauce</vt:lpstr>
      <vt:lpstr>Code Bold</vt:lpstr>
      <vt:lpstr>Codec Pro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NAME-SUBHANKIT CHOUDHURY STREAM-CSE(IOTCSBT) ROLL-34 YEAR-2ND</dc:title>
  <cp:lastModifiedBy>SUBHANKIT CHOUDHURY</cp:lastModifiedBy>
  <cp:revision>2</cp:revision>
  <dcterms:created xsi:type="dcterms:W3CDTF">2006-08-16T00:00:00Z</dcterms:created>
  <dcterms:modified xsi:type="dcterms:W3CDTF">2026-03-28T15:45:52Z</dcterms:modified>
  <dc:identifier>DAHFPk9ldGE</dc:identifier>
</cp:coreProperties>
</file>